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4f602cdae_0_92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b4f602cdae_0_92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 an AI to train research AIs. </a:t>
            </a:r>
            <a:endParaRPr/>
          </a:p>
        </p:txBody>
      </p:sp>
      <p:sp>
        <p:nvSpPr>
          <p:cNvPr id="75" name="Google Shape;75;g3b4f602cdae_0_92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4f602cdae_0_163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4f602cdae_0_163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4f602cdae_0_163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4f602cdae_0_305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4f602cdae_0_305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4f602cdae_0_305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f602cdae_0_314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4f602cdae_0_314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4f602cdae_0_314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4f602cdae_0_323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4f602cdae_0_323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4f602cdae_0_323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4f602cdae_0_332:notes"/>
          <p:cNvSpPr/>
          <p:nvPr>
            <p:ph idx="2" type="sldImg"/>
          </p:nvPr>
        </p:nvSpPr>
        <p:spPr>
          <a:xfrm>
            <a:off x="1204591" y="1143179"/>
            <a:ext cx="44487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b4f602cdae_0_332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75" spcFirstLastPara="1" rIns="93275" wrap="square" tIns="466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4f602cdae_0_332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75" spcFirstLastPara="1" rIns="93275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Text (Kurz) ">
  <p:cSld name="Titelfolie mit Text (Kurz) 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802259" y="1980152"/>
            <a:ext cx="78867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0" sz="19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802259" y="864677"/>
            <a:ext cx="78867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0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803910" y="290873"/>
            <a:ext cx="7886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801900" y="1674000"/>
            <a:ext cx="7882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cxnSp>
        <p:nvCxnSpPr>
          <p:cNvPr id="55" name="Google Shape;55;p13"/>
          <p:cNvCxnSpPr/>
          <p:nvPr/>
        </p:nvCxnSpPr>
        <p:spPr>
          <a:xfrm>
            <a:off x="860584" y="47458"/>
            <a:ext cx="7927200" cy="0"/>
          </a:xfrm>
          <a:prstGeom prst="straightConnector1">
            <a:avLst/>
          </a:prstGeom>
          <a:noFill/>
          <a:ln cap="flat" cmpd="sng" w="952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82990" y="6444000"/>
            <a:ext cx="27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verzeichnis">
  <p:cSld name="Inhaltsverzeichni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803910" y="1447800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  <a:defRPr sz="2600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803910" y="290873"/>
            <a:ext cx="7886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showMasterSp="0">
  <p:cSld name="Titel und Inhal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107950" y="1447800"/>
            <a:ext cx="89439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107950" y="6515100"/>
            <a:ext cx="89439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ub_8pt_rgb.jpg                                                 000546B7mg                             B9C1C449:" id="68" name="Google Shape;6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37475" y="107950"/>
            <a:ext cx="1306513" cy="1006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539750" y="647700"/>
            <a:ext cx="6621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533400" y="1676400"/>
            <a:ext cx="8061300" cy="4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5755" lvl="0" marL="4572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●"/>
              <a:defRPr/>
            </a:lvl1pPr>
            <a:lvl2pPr indent="-342900" lvl="1" marL="9144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2pPr>
            <a:lvl3pPr indent="-325755" lvl="2" marL="13716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■"/>
              <a:defRPr/>
            </a:lvl3pPr>
            <a:lvl4pPr indent="-325755" lvl="3" marL="18288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●"/>
              <a:defRPr/>
            </a:lvl4pPr>
            <a:lvl5pPr indent="-325754" lvl="4" marL="22860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○"/>
              <a:defRPr/>
            </a:lvl5pPr>
            <a:lvl6pPr indent="-325754" lvl="5" marL="27432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■"/>
              <a:defRPr/>
            </a:lvl6pPr>
            <a:lvl7pPr indent="-325754" lvl="6" marL="32004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●"/>
              <a:defRPr/>
            </a:lvl7pPr>
            <a:lvl8pPr indent="-325754" lvl="7" marL="36576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○"/>
              <a:defRPr/>
            </a:lvl8pPr>
            <a:lvl9pPr indent="-325754" lvl="8" marL="411480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53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864948" y="6548438"/>
            <a:ext cx="18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  <a:defRPr sz="1200">
                <a:solidFill>
                  <a:srgbClr val="33333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dsl.unibe.ch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" TargetMode="External"/><Relationship Id="rId4" Type="http://schemas.openxmlformats.org/officeDocument/2006/relationships/hyperlink" Target="https://github.com/CommitmentIssues418/CAS-in-applied-Data-Sci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803900" y="1340100"/>
            <a:ext cx="8340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Arial"/>
              <a:buNone/>
            </a:pPr>
            <a:r>
              <a:rPr lang="en-US" sz="5700"/>
              <a:t>VCS and VCS Platforms</a:t>
            </a:r>
            <a:endParaRPr sz="5700"/>
          </a:p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Science Lab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82990" y="6444000"/>
            <a:ext cx="27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803906" y="2371675"/>
            <a:ext cx="58347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t/>
            </a:r>
            <a:endParaRPr sz="2400">
              <a:solidFill>
                <a:srgbClr val="6463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t/>
            </a:r>
            <a:endParaRPr sz="2400">
              <a:solidFill>
                <a:srgbClr val="6463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sz="2400">
                <a:solidFill>
                  <a:srgbClr val="646363"/>
                </a:solidFill>
              </a:rPr>
              <a:t>6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rgbClr val="646363"/>
                </a:solidFill>
              </a:rPr>
              <a:t>01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rgbClr val="646363"/>
                </a:solidFill>
              </a:rPr>
              <a:t>07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646363"/>
                </a:solidFill>
              </a:rPr>
              <a:t>15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400">
                <a:solidFill>
                  <a:srgbClr val="646363"/>
                </a:solidFill>
              </a:rPr>
              <a:t>30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rgbClr val="646363"/>
                </a:solidFill>
              </a:rPr>
              <a:t>16:45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Sigve Haug</a:t>
            </a:r>
            <a:r>
              <a:rPr lang="en-US" sz="2400">
                <a:solidFill>
                  <a:srgbClr val="646363"/>
                </a:solidFill>
              </a:rPr>
              <a:t>, 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Data Science Lab and Mathematical Institute</a:t>
            </a:r>
            <a:endParaRPr sz="2400">
              <a:solidFill>
                <a:srgbClr val="6463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Universit</a:t>
            </a:r>
            <a:r>
              <a:rPr lang="en-US" sz="2400">
                <a:solidFill>
                  <a:srgbClr val="646363"/>
                </a:solidFill>
              </a:rPr>
              <a:t>y of</a:t>
            </a:r>
            <a:r>
              <a:rPr lang="en-US" sz="2400">
                <a:solidFill>
                  <a:srgbClr val="646363"/>
                </a:solidFill>
              </a:rPr>
              <a:t> </a:t>
            </a:r>
            <a:r>
              <a:rPr b="0" i="0" lang="en-US" sz="2400" u="none" cap="none" strike="noStrike">
                <a:solidFill>
                  <a:srgbClr val="646363"/>
                </a:solidFill>
                <a:latin typeface="Arial"/>
                <a:ea typeface="Arial"/>
                <a:cs typeface="Arial"/>
                <a:sym typeface="Arial"/>
              </a:rPr>
              <a:t>Bern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www.dsl.unibe.ch</a:t>
            </a:r>
            <a:endParaRPr sz="2400">
              <a:solidFill>
                <a:srgbClr val="6463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6363"/>
              </a:buClr>
              <a:buSzPts val="2800"/>
              <a:buFont typeface="Courier New"/>
              <a:buNone/>
            </a:pPr>
            <a:r>
              <a:t/>
            </a:r>
            <a:endParaRPr sz="2400">
              <a:solidFill>
                <a:srgbClr val="646363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803888" y="2225150"/>
            <a:ext cx="64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646363"/>
              </a:buClr>
              <a:buSzPts val="2400"/>
              <a:buChar char="-"/>
            </a:pPr>
            <a:r>
              <a:rPr lang="en-US" sz="2400">
                <a:solidFill>
                  <a:srgbClr val="646363"/>
                </a:solidFill>
              </a:rPr>
              <a:t>CAS AI for Creative Practices - Module 6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8363" y="419725"/>
            <a:ext cx="986585" cy="78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 Januar 2023, Bern</a:t>
            </a:r>
            <a:endParaRPr/>
          </a:p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Organisationseinheit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849506" y="486525"/>
            <a:ext cx="79257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</a:rPr>
              <a:t>Session Content</a:t>
            </a:r>
            <a:r>
              <a:rPr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849505" y="1633500"/>
            <a:ext cx="77238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Input - 15 min</a:t>
            </a:r>
            <a:endParaRPr sz="2300">
              <a:solidFill>
                <a:srgbClr val="FFFF00"/>
              </a:solidFill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Why Version Control Systems ? 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Source code hosting facilities versus local 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Best Practices for Documentation</a:t>
            </a:r>
            <a:endParaRPr sz="23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Tutorial - 60 min</a:t>
            </a:r>
            <a:endParaRPr sz="2300">
              <a:solidFill>
                <a:srgbClr val="FFFF00"/>
              </a:solidFill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300">
                <a:solidFill>
                  <a:schemeClr val="lt1"/>
                </a:solidFill>
              </a:rPr>
              <a:t>Create your own GitHub repository for the CAS and the Final Project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 Januar 2023, Bern</a:t>
            </a:r>
            <a:endParaRPr/>
          </a:p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Organisationseinheit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849506" y="486525"/>
            <a:ext cx="79257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</a:rPr>
              <a:t>Why Version Control Systems ?</a:t>
            </a:r>
            <a:r>
              <a:rPr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849505" y="1301850"/>
            <a:ext cx="7723800" cy="4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History, versions and roll back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Release management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Collaboration (different people working on the same digital artifact, normally programming code)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It is about ethical and sustainable working behaviour. The most used VCS is Git (was written for the development and maintenance of the Linux operating system).</a:t>
            </a:r>
            <a:endParaRPr sz="23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 Januar 2023, Bern</a:t>
            </a:r>
            <a:endParaRPr/>
          </a:p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Organisationseinheit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849500" y="486525"/>
            <a:ext cx="82353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</a:rPr>
              <a:t>Why VCS on a hosting platform ?</a:t>
            </a:r>
            <a:r>
              <a:rPr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849505" y="1301850"/>
            <a:ext cx="77238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Reasons</a:t>
            </a:r>
            <a:endParaRPr sz="2300">
              <a:solidFill>
                <a:srgbClr val="FFFF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Graphical User Interface (GUI)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Nothing to install and maintain (for the users)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Extended user management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Eased sharing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Documentation tools (Readme, Wiki, webpage …)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Webpages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Licence handling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etc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Most used platforms</a:t>
            </a:r>
            <a:endParaRPr sz="2300">
              <a:solidFill>
                <a:srgbClr val="FFFF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GitHub and GitLab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 Januar 2023, Bern</a:t>
            </a:r>
            <a:endParaRPr/>
          </a:p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Organisationseinheit</a:t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849500" y="486525"/>
            <a:ext cx="82353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</a:rPr>
              <a:t>Best Practices for Documentation</a:t>
            </a:r>
            <a:r>
              <a:rPr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849500" y="1539800"/>
            <a:ext cx="7723800" cy="4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Levels</a:t>
            </a:r>
            <a:endParaRPr sz="2300">
              <a:solidFill>
                <a:srgbClr val="FFFF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The code (also with notebooks)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Good variable and method/function names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Inline comments (in, out, what it does)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Readme files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Wiki pages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Static web pages (automatically generated)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Manuals (pdf)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Books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The needed documentation level depends on your project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0" type="dt"/>
          </p:nvPr>
        </p:nvSpPr>
        <p:spPr>
          <a:xfrm>
            <a:off x="1058661" y="6444000"/>
            <a:ext cx="169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 Januar 2023, Bern</a:t>
            </a:r>
            <a:endParaRPr/>
          </a:p>
        </p:txBody>
      </p:sp>
      <p:sp>
        <p:nvSpPr>
          <p:cNvPr id="129" name="Google Shape;129;p21"/>
          <p:cNvSpPr txBox="1"/>
          <p:nvPr>
            <p:ph idx="11" type="ftr"/>
          </p:nvPr>
        </p:nvSpPr>
        <p:spPr>
          <a:xfrm>
            <a:off x="2848500" y="6444000"/>
            <a:ext cx="583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Organisationseinheit</a:t>
            </a:r>
            <a:endParaRPr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682990" y="6444000"/>
            <a:ext cx="278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849500" y="486525"/>
            <a:ext cx="82353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</a:rPr>
              <a:t>Tutorial</a:t>
            </a:r>
            <a:r>
              <a:rPr lang="en-US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849500" y="1539800"/>
            <a:ext cx="7723800" cy="4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00"/>
                </a:solidFill>
              </a:rPr>
              <a:t>Make your own GitHub repository for this CAS and the final project !</a:t>
            </a:r>
            <a:endParaRPr sz="2300">
              <a:solidFill>
                <a:srgbClr val="FFFF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Go to </a:t>
            </a:r>
            <a:r>
              <a:rPr lang="en-US" sz="2300" u="sng">
                <a:solidFill>
                  <a:schemeClr val="hlink"/>
                </a:solidFill>
                <a:hlinkClick r:id="rId3"/>
              </a:rPr>
              <a:t>https://github.com/</a:t>
            </a:r>
            <a:r>
              <a:rPr lang="en-US" sz="2300">
                <a:solidFill>
                  <a:schemeClr val="lt1"/>
                </a:solidFill>
              </a:rPr>
              <a:t> and do on your own laptop what I do on the screen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Create and account or sign in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Create a new repo, get inspiration </a:t>
            </a:r>
            <a:r>
              <a:rPr lang="en-US" sz="2300">
                <a:solidFill>
                  <a:schemeClr val="lt1"/>
                </a:solidFill>
              </a:rPr>
              <a:t>from</a:t>
            </a:r>
            <a:r>
              <a:rPr lang="en-US" sz="2300">
                <a:solidFill>
                  <a:schemeClr val="lt1"/>
                </a:solidFill>
              </a:rPr>
              <a:t> this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https://github.com/CommitmentIssues418/CAS-in-applied-Data-Science</a:t>
            </a:r>
            <a:endParaRPr sz="12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Adapt the repo and fill it with CAS material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Create a webpage with github pages</a:t>
            </a:r>
            <a:endParaRPr sz="2300">
              <a:solidFill>
                <a:schemeClr val="lt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-"/>
            </a:pPr>
            <a:r>
              <a:rPr lang="en-US" sz="2300">
                <a:solidFill>
                  <a:schemeClr val="lt1"/>
                </a:solidFill>
              </a:rPr>
              <a:t>Link to your repo on the foreseen Ilias folder under the Final Project “Module”  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b_powerpoint2013_weissHintergrund_print">
  <a:themeElements>
    <a:clrScheme name="ub_powerpoint2013_weissHintergrund_prin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1EBF5"/>
      </a:accent1>
      <a:accent2>
        <a:srgbClr val="9CBDDE"/>
      </a:accent2>
      <a:accent3>
        <a:srgbClr val="8F8F8F"/>
      </a:accent3>
      <a:accent4>
        <a:srgbClr val="707070"/>
      </a:accent4>
      <a:accent5>
        <a:srgbClr val="EEF3F9"/>
      </a:accent5>
      <a:accent6>
        <a:srgbClr val="8DABC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